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256" r:id="rId2"/>
  </p:sldIdLst>
  <p:sldSz cx="6858000" cy="9144000" type="screen4x3"/>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2824"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68599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111"/>
        </a:solidFill>
        <a:effectLst/>
      </p:bgPr>
    </p:bg>
    <p:spTree>
      <p:nvGrpSpPr>
        <p:cNvPr id="1" name=""/>
        <p:cNvGrpSpPr/>
        <p:nvPr/>
      </p:nvGrpSpPr>
      <p:grpSpPr>
        <a:xfrm>
          <a:off x="0" y="0"/>
          <a:ext cx="0" cy="0"/>
          <a:chOff x="0" y="0"/>
          <a:chExt cx="0" cy="0"/>
        </a:xfrm>
      </p:grpSpPr>
      <p:sp>
        <p:nvSpPr>
          <p:cNvPr id="2" name="Shape 0"/>
          <p:cNvSpPr/>
          <p:nvPr/>
        </p:nvSpPr>
        <p:spPr>
          <a:xfrm>
            <a:off x="0" y="0"/>
            <a:ext cx="6858000" cy="320040"/>
          </a:xfrm>
          <a:prstGeom prst="rect">
            <a:avLst/>
          </a:prstGeom>
          <a:solidFill>
            <a:srgbClr val="0A0A0A"/>
          </a:solidFill>
          <a:ln/>
        </p:spPr>
        <p:txBody>
          <a:bodyPr/>
          <a:lstStyle/>
          <a:p>
            <a:endParaRPr lang="en-US"/>
          </a:p>
        </p:txBody>
      </p:sp>
      <p:sp>
        <p:nvSpPr>
          <p:cNvPr id="3" name="Shape 1"/>
          <p:cNvSpPr/>
          <p:nvPr/>
        </p:nvSpPr>
        <p:spPr>
          <a:xfrm>
            <a:off x="0" y="320040"/>
            <a:ext cx="6858000" cy="32004"/>
          </a:xfrm>
          <a:prstGeom prst="rect">
            <a:avLst/>
          </a:prstGeom>
          <a:solidFill>
            <a:srgbClr val="D4AF37"/>
          </a:solidFill>
          <a:ln/>
        </p:spPr>
        <p:txBody>
          <a:bodyPr/>
          <a:lstStyle/>
          <a:p>
            <a:endParaRPr lang="en-US"/>
          </a:p>
        </p:txBody>
      </p:sp>
      <p:sp>
        <p:nvSpPr>
          <p:cNvPr id="4" name="Text 2"/>
          <p:cNvSpPr/>
          <p:nvPr/>
        </p:nvSpPr>
        <p:spPr>
          <a:xfrm>
            <a:off x="182880" y="0"/>
            <a:ext cx="3657600" cy="320040"/>
          </a:xfrm>
          <a:prstGeom prst="rect">
            <a:avLst/>
          </a:prstGeom>
          <a:noFill/>
          <a:ln/>
        </p:spPr>
        <p:txBody>
          <a:bodyPr wrap="square" lIns="0" tIns="0" rIns="0" bIns="0" rtlCol="0" anchor="ctr"/>
          <a:lstStyle/>
          <a:p>
            <a:pPr marL="0" indent="0">
              <a:buNone/>
            </a:pPr>
            <a:r>
              <a:rPr lang="en-US" sz="900" b="1" kern="0" spc="300" dirty="0">
                <a:solidFill>
                  <a:srgbClr val="D4AF37"/>
                </a:solidFill>
              </a:rPr>
              <a:t>BLACK STICKS MEN</a:t>
            </a:r>
            <a:endParaRPr lang="en-US" sz="900" dirty="0"/>
          </a:p>
        </p:txBody>
      </p:sp>
      <p:sp>
        <p:nvSpPr>
          <p:cNvPr id="5" name="Text 3"/>
          <p:cNvSpPr/>
          <p:nvPr/>
        </p:nvSpPr>
        <p:spPr>
          <a:xfrm>
            <a:off x="3474720" y="0"/>
            <a:ext cx="3200400" cy="320040"/>
          </a:xfrm>
          <a:prstGeom prst="rect">
            <a:avLst/>
          </a:prstGeom>
          <a:noFill/>
          <a:ln/>
        </p:spPr>
        <p:txBody>
          <a:bodyPr wrap="square" lIns="0" tIns="0" rIns="0" bIns="0" rtlCol="0" anchor="ctr"/>
          <a:lstStyle/>
          <a:p>
            <a:pPr marL="0" indent="0" algn="r">
              <a:buNone/>
            </a:pPr>
            <a:r>
              <a:rPr lang="en-US" sz="750" kern="0" spc="100" dirty="0">
                <a:solidFill>
                  <a:srgbClr val="888888"/>
                </a:solidFill>
              </a:rPr>
              <a:t>POST-MATCH FEEDBACK  ·  CONFIDENTIAL</a:t>
            </a:r>
            <a:endParaRPr lang="en-US" sz="750" dirty="0"/>
          </a:p>
        </p:txBody>
      </p:sp>
      <p:sp>
        <p:nvSpPr>
          <p:cNvPr id="6" name="Shape 4"/>
          <p:cNvSpPr/>
          <p:nvPr/>
        </p:nvSpPr>
        <p:spPr>
          <a:xfrm>
            <a:off x="228600" y="502920"/>
            <a:ext cx="1828800" cy="2103120"/>
          </a:xfrm>
          <a:prstGeom prst="rect">
            <a:avLst/>
          </a:prstGeom>
          <a:solidFill>
            <a:srgbClr val="1C1C1C"/>
          </a:solidFill>
          <a:ln w="6350">
            <a:solidFill>
              <a:srgbClr val="D4AF37"/>
            </a:solidFill>
            <a:prstDash val="solid"/>
          </a:ln>
        </p:spPr>
        <p:txBody>
          <a:bodyPr/>
          <a:lstStyle/>
          <a:p>
            <a:endParaRPr lang="en-US"/>
          </a:p>
        </p:txBody>
      </p:sp>
      <p:sp>
        <p:nvSpPr>
          <p:cNvPr id="7" name="Text 5"/>
          <p:cNvSpPr/>
          <p:nvPr/>
        </p:nvSpPr>
        <p:spPr>
          <a:xfrm>
            <a:off x="228600" y="502920"/>
            <a:ext cx="1828800" cy="2103120"/>
          </a:xfrm>
          <a:prstGeom prst="rect">
            <a:avLst/>
          </a:prstGeom>
          <a:noFill/>
          <a:ln/>
        </p:spPr>
        <p:txBody>
          <a:bodyPr wrap="square" lIns="0" tIns="0" rIns="0" bIns="0" rtlCol="0" anchor="ctr"/>
          <a:lstStyle/>
          <a:p>
            <a:pPr marL="0" indent="0" algn="ctr">
              <a:buNone/>
            </a:pPr>
            <a:endParaRPr lang="en-US" sz="1000" dirty="0"/>
          </a:p>
        </p:txBody>
      </p:sp>
      <p:sp>
        <p:nvSpPr>
          <p:cNvPr id="8" name="Text 6"/>
          <p:cNvSpPr/>
          <p:nvPr/>
        </p:nvSpPr>
        <p:spPr>
          <a:xfrm>
            <a:off x="2240280" y="502920"/>
            <a:ext cx="4389120" cy="457200"/>
          </a:xfrm>
          <a:prstGeom prst="rect">
            <a:avLst/>
          </a:prstGeom>
          <a:noFill/>
          <a:ln/>
        </p:spPr>
        <p:txBody>
          <a:bodyPr wrap="square" lIns="0" tIns="0" rIns="0" bIns="0" rtlCol="0" anchor="ctr"/>
          <a:lstStyle/>
          <a:p>
            <a:pPr marL="0" indent="0">
              <a:buNone/>
            </a:pPr>
            <a:r>
              <a:rPr lang="en-US" sz="2600" b="1" i="1" dirty="0">
                <a:solidFill>
                  <a:srgbClr val="FFFFFF"/>
                </a:solidFill>
              </a:rPr>
              <a:t>Aidan Sarikaya</a:t>
            </a:r>
            <a:endParaRPr lang="en-US" sz="2600" dirty="0"/>
          </a:p>
        </p:txBody>
      </p:sp>
      <p:sp>
        <p:nvSpPr>
          <p:cNvPr id="9" name="Shape 7"/>
          <p:cNvSpPr/>
          <p:nvPr/>
        </p:nvSpPr>
        <p:spPr>
          <a:xfrm>
            <a:off x="2240280" y="960120"/>
            <a:ext cx="4389120" cy="27432"/>
          </a:xfrm>
          <a:prstGeom prst="rect">
            <a:avLst/>
          </a:prstGeom>
          <a:solidFill>
            <a:srgbClr val="D4AF37"/>
          </a:solidFill>
          <a:ln/>
        </p:spPr>
        <p:txBody>
          <a:bodyPr/>
          <a:lstStyle/>
          <a:p>
            <a:endParaRPr lang="en-US"/>
          </a:p>
        </p:txBody>
      </p:sp>
      <p:sp>
        <p:nvSpPr>
          <p:cNvPr id="10" name="Text 8"/>
          <p:cNvSpPr/>
          <p:nvPr/>
        </p:nvSpPr>
        <p:spPr>
          <a:xfrm>
            <a:off x="2240280" y="1051560"/>
            <a:ext cx="1280160" cy="146304"/>
          </a:xfrm>
          <a:prstGeom prst="rect">
            <a:avLst/>
          </a:prstGeom>
          <a:noFill/>
          <a:ln/>
        </p:spPr>
        <p:txBody>
          <a:bodyPr wrap="square" lIns="0" tIns="0" rIns="0" bIns="0" rtlCol="0" anchor="ctr"/>
          <a:lstStyle/>
          <a:p>
            <a:pPr marL="0" indent="0">
              <a:buNone/>
            </a:pPr>
            <a:r>
              <a:rPr lang="en-US" sz="700" b="1" kern="0" spc="200" dirty="0">
                <a:solidFill>
                  <a:srgbClr val="D4AF37"/>
                </a:solidFill>
              </a:rPr>
              <a:t>POSITION</a:t>
            </a:r>
            <a:endParaRPr lang="en-US" sz="700" dirty="0"/>
          </a:p>
        </p:txBody>
      </p:sp>
      <p:sp>
        <p:nvSpPr>
          <p:cNvPr id="11" name="Text 9"/>
          <p:cNvSpPr/>
          <p:nvPr/>
        </p:nvSpPr>
        <p:spPr>
          <a:xfrm>
            <a:off x="2240280" y="1188720"/>
            <a:ext cx="1280160" cy="182880"/>
          </a:xfrm>
          <a:prstGeom prst="rect">
            <a:avLst/>
          </a:prstGeom>
          <a:noFill/>
          <a:ln/>
        </p:spPr>
        <p:txBody>
          <a:bodyPr wrap="square" lIns="0" tIns="0" rIns="0" bIns="0" rtlCol="0" anchor="ctr"/>
          <a:lstStyle/>
          <a:p>
            <a:pPr marL="0" indent="0">
              <a:buNone/>
            </a:pPr>
            <a:r>
              <a:rPr lang="en-US" sz="1100" dirty="0">
                <a:solidFill>
                  <a:srgbClr val="CCCCCC"/>
                </a:solidFill>
              </a:rPr>
              <a:t>[Position]</a:t>
            </a:r>
            <a:endParaRPr lang="en-US" sz="1100" dirty="0"/>
          </a:p>
        </p:txBody>
      </p:sp>
      <p:sp>
        <p:nvSpPr>
          <p:cNvPr id="12" name="Text 10"/>
          <p:cNvSpPr/>
          <p:nvPr/>
        </p:nvSpPr>
        <p:spPr>
          <a:xfrm>
            <a:off x="3657600" y="1051560"/>
            <a:ext cx="22860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MATCH</a:t>
            </a:r>
            <a:endParaRPr lang="en-US" sz="700" dirty="0"/>
          </a:p>
        </p:txBody>
      </p:sp>
      <p:sp>
        <p:nvSpPr>
          <p:cNvPr id="13" name="Text 11"/>
          <p:cNvSpPr/>
          <p:nvPr/>
        </p:nvSpPr>
        <p:spPr>
          <a:xfrm>
            <a:off x="3657600" y="1188720"/>
            <a:ext cx="2286000" cy="182880"/>
          </a:xfrm>
          <a:prstGeom prst="rect">
            <a:avLst/>
          </a:prstGeom>
          <a:noFill/>
          <a:ln/>
        </p:spPr>
        <p:txBody>
          <a:bodyPr wrap="square" lIns="0" tIns="0" rIns="0" bIns="0" rtlCol="0" anchor="ctr"/>
          <a:lstStyle/>
          <a:p>
            <a:pPr marL="0" indent="0">
              <a:buNone/>
            </a:pPr>
            <a:r>
              <a:rPr lang="en-US" sz="1100" dirty="0">
                <a:solidFill>
                  <a:srgbClr val="CCCCCC"/>
                </a:solidFill>
              </a:rPr>
              <a:t>[NZ vs Opponent, Score]</a:t>
            </a:r>
            <a:endParaRPr lang="en-US" sz="1100" dirty="0"/>
          </a:p>
        </p:txBody>
      </p:sp>
      <p:sp>
        <p:nvSpPr>
          <p:cNvPr id="14" name="Text 12"/>
          <p:cNvSpPr/>
          <p:nvPr/>
        </p:nvSpPr>
        <p:spPr>
          <a:xfrm>
            <a:off x="2240280" y="1463040"/>
            <a:ext cx="1828800" cy="146304"/>
          </a:xfrm>
          <a:prstGeom prst="rect">
            <a:avLst/>
          </a:prstGeom>
          <a:noFill/>
          <a:ln/>
        </p:spPr>
        <p:txBody>
          <a:bodyPr wrap="square" lIns="0" tIns="0" rIns="0" bIns="0" rtlCol="0" anchor="ctr"/>
          <a:lstStyle/>
          <a:p>
            <a:pPr marL="0" indent="0">
              <a:buNone/>
            </a:pPr>
            <a:r>
              <a:rPr lang="en-US" sz="700" b="1" kern="0" spc="200" dirty="0">
                <a:solidFill>
                  <a:srgbClr val="D4AF37"/>
                </a:solidFill>
              </a:rPr>
              <a:t>NEXT GAME</a:t>
            </a:r>
            <a:endParaRPr lang="en-US" sz="700" dirty="0"/>
          </a:p>
        </p:txBody>
      </p:sp>
      <p:sp>
        <p:nvSpPr>
          <p:cNvPr id="15" name="Text 13"/>
          <p:cNvSpPr/>
          <p:nvPr/>
        </p:nvSpPr>
        <p:spPr>
          <a:xfrm>
            <a:off x="2240280" y="1600200"/>
            <a:ext cx="2286000" cy="182880"/>
          </a:xfrm>
          <a:prstGeom prst="rect">
            <a:avLst/>
          </a:prstGeom>
          <a:noFill/>
          <a:ln/>
        </p:spPr>
        <p:txBody>
          <a:bodyPr wrap="square" lIns="0" tIns="0" rIns="0" bIns="0" rtlCol="0" anchor="ctr"/>
          <a:lstStyle/>
          <a:p>
            <a:pPr marL="0" indent="0">
              <a:buNone/>
            </a:pPr>
            <a:r>
              <a:rPr lang="en-US" sz="1100" dirty="0">
                <a:solidFill>
                  <a:srgbClr val="CCCCCC"/>
                </a:solidFill>
              </a:rPr>
              <a:t>[vs Opponent, Day]</a:t>
            </a:r>
            <a:endParaRPr lang="en-US" sz="1100" dirty="0"/>
          </a:p>
        </p:txBody>
      </p:sp>
      <p:sp>
        <p:nvSpPr>
          <p:cNvPr id="16" name="Text 14"/>
          <p:cNvSpPr/>
          <p:nvPr/>
        </p:nvSpPr>
        <p:spPr>
          <a:xfrm>
            <a:off x="5029200" y="1463040"/>
            <a:ext cx="1645920" cy="146304"/>
          </a:xfrm>
          <a:prstGeom prst="rect">
            <a:avLst/>
          </a:prstGeom>
          <a:noFill/>
          <a:ln/>
        </p:spPr>
        <p:txBody>
          <a:bodyPr wrap="square" lIns="0" tIns="0" rIns="0" bIns="0" rtlCol="0" anchor="ctr"/>
          <a:lstStyle/>
          <a:p>
            <a:pPr marL="0" indent="0">
              <a:buNone/>
            </a:pPr>
            <a:r>
              <a:rPr lang="en-US" sz="700" b="1" kern="0" spc="200" dirty="0">
                <a:solidFill>
                  <a:srgbClr val="D4AF37"/>
                </a:solidFill>
              </a:rPr>
              <a:t>DATE</a:t>
            </a:r>
            <a:endParaRPr lang="en-US" sz="700" dirty="0"/>
          </a:p>
        </p:txBody>
      </p:sp>
      <p:sp>
        <p:nvSpPr>
          <p:cNvPr id="17" name="Text 15"/>
          <p:cNvSpPr/>
          <p:nvPr/>
        </p:nvSpPr>
        <p:spPr>
          <a:xfrm>
            <a:off x="5029200" y="1600200"/>
            <a:ext cx="1645920" cy="182880"/>
          </a:xfrm>
          <a:prstGeom prst="rect">
            <a:avLst/>
          </a:prstGeom>
          <a:noFill/>
          <a:ln/>
        </p:spPr>
        <p:txBody>
          <a:bodyPr wrap="square" lIns="0" tIns="0" rIns="0" bIns="0" rtlCol="0" anchor="ctr"/>
          <a:lstStyle/>
          <a:p>
            <a:pPr marL="0" indent="0">
              <a:buNone/>
            </a:pPr>
            <a:r>
              <a:rPr lang="en-US" sz="1100" dirty="0">
                <a:solidFill>
                  <a:srgbClr val="CCCCCC"/>
                </a:solidFill>
              </a:rPr>
              <a:t>[DD/MM/YYYY]</a:t>
            </a:r>
            <a:endParaRPr lang="en-US" sz="1100" dirty="0"/>
          </a:p>
        </p:txBody>
      </p:sp>
      <p:sp>
        <p:nvSpPr>
          <p:cNvPr id="18" name="Shape 16"/>
          <p:cNvSpPr/>
          <p:nvPr/>
        </p:nvSpPr>
        <p:spPr>
          <a:xfrm>
            <a:off x="22860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19" name="Shape 17"/>
          <p:cNvSpPr/>
          <p:nvPr/>
        </p:nvSpPr>
        <p:spPr>
          <a:xfrm>
            <a:off x="228600" y="2788920"/>
            <a:ext cx="3108960" cy="36576"/>
          </a:xfrm>
          <a:prstGeom prst="rect">
            <a:avLst/>
          </a:prstGeom>
          <a:solidFill>
            <a:srgbClr val="3A8A3E"/>
          </a:solidFill>
          <a:ln/>
        </p:spPr>
        <p:txBody>
          <a:bodyPr/>
          <a:lstStyle/>
          <a:p>
            <a:endParaRPr lang="en-US"/>
          </a:p>
        </p:txBody>
      </p:sp>
      <p:sp>
        <p:nvSpPr>
          <p:cNvPr id="20" name="Text 18"/>
          <p:cNvSpPr/>
          <p:nvPr/>
        </p:nvSpPr>
        <p:spPr>
          <a:xfrm>
            <a:off x="365760" y="2898648"/>
            <a:ext cx="2834640" cy="182880"/>
          </a:xfrm>
          <a:prstGeom prst="rect">
            <a:avLst/>
          </a:prstGeom>
          <a:noFill/>
          <a:ln/>
        </p:spPr>
        <p:txBody>
          <a:bodyPr wrap="square" lIns="0" tIns="0" rIns="0" bIns="0" rtlCol="0" anchor="ctr"/>
          <a:lstStyle/>
          <a:p>
            <a:pPr marL="0" indent="0">
              <a:buNone/>
            </a:pPr>
            <a:r>
              <a:rPr lang="en-US" sz="800" b="1" kern="0" spc="300" dirty="0">
                <a:solidFill>
                  <a:srgbClr val="3A8A3E"/>
                </a:solidFill>
              </a:rPr>
              <a:t>GOING WELL</a:t>
            </a:r>
            <a:endParaRPr lang="en-US" sz="800" dirty="0"/>
          </a:p>
        </p:txBody>
      </p:sp>
      <p:sp>
        <p:nvSpPr>
          <p:cNvPr id="21" name="Shape 19"/>
          <p:cNvSpPr/>
          <p:nvPr/>
        </p:nvSpPr>
        <p:spPr>
          <a:xfrm>
            <a:off x="365760" y="3118104"/>
            <a:ext cx="2834640" cy="9144"/>
          </a:xfrm>
          <a:prstGeom prst="rect">
            <a:avLst/>
          </a:prstGeom>
          <a:solidFill>
            <a:srgbClr val="2A2A2A"/>
          </a:solidFill>
          <a:ln/>
        </p:spPr>
        <p:txBody>
          <a:bodyPr/>
          <a:lstStyle/>
          <a:p>
            <a:endParaRPr lang="en-US"/>
          </a:p>
        </p:txBody>
      </p:sp>
      <p:sp>
        <p:nvSpPr>
          <p:cNvPr id="22" name="Shape 20"/>
          <p:cNvSpPr/>
          <p:nvPr/>
        </p:nvSpPr>
        <p:spPr>
          <a:xfrm>
            <a:off x="365760" y="3227832"/>
            <a:ext cx="54864" cy="411480"/>
          </a:xfrm>
          <a:prstGeom prst="rect">
            <a:avLst/>
          </a:prstGeom>
          <a:solidFill>
            <a:srgbClr val="3A8A3E"/>
          </a:solidFill>
          <a:ln/>
        </p:spPr>
        <p:txBody>
          <a:bodyPr/>
          <a:lstStyle/>
          <a:p>
            <a:endParaRPr lang="en-US"/>
          </a:p>
        </p:txBody>
      </p:sp>
      <p:sp>
        <p:nvSpPr>
          <p:cNvPr id="23" name="Text 21"/>
          <p:cNvSpPr/>
          <p:nvPr/>
        </p:nvSpPr>
        <p:spPr>
          <a:xfrm>
            <a:off x="51206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1 — paste from Claude output]</a:t>
            </a:r>
            <a:endParaRPr lang="en-US" sz="950" dirty="0"/>
          </a:p>
        </p:txBody>
      </p:sp>
      <p:sp>
        <p:nvSpPr>
          <p:cNvPr id="24" name="Shape 22"/>
          <p:cNvSpPr/>
          <p:nvPr/>
        </p:nvSpPr>
        <p:spPr>
          <a:xfrm>
            <a:off x="365760" y="3822192"/>
            <a:ext cx="54864" cy="411480"/>
          </a:xfrm>
          <a:prstGeom prst="rect">
            <a:avLst/>
          </a:prstGeom>
          <a:solidFill>
            <a:srgbClr val="3A8A3E"/>
          </a:solidFill>
          <a:ln/>
        </p:spPr>
        <p:txBody>
          <a:bodyPr/>
          <a:lstStyle/>
          <a:p>
            <a:endParaRPr lang="en-US"/>
          </a:p>
        </p:txBody>
      </p:sp>
      <p:sp>
        <p:nvSpPr>
          <p:cNvPr id="25" name="Text 23"/>
          <p:cNvSpPr/>
          <p:nvPr/>
        </p:nvSpPr>
        <p:spPr>
          <a:xfrm>
            <a:off x="51206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2 — specific, data-backed]</a:t>
            </a:r>
            <a:endParaRPr lang="en-US" sz="950" dirty="0"/>
          </a:p>
        </p:txBody>
      </p:sp>
      <p:sp>
        <p:nvSpPr>
          <p:cNvPr id="26" name="Shape 24"/>
          <p:cNvSpPr/>
          <p:nvPr/>
        </p:nvSpPr>
        <p:spPr>
          <a:xfrm>
            <a:off x="365760" y="4416552"/>
            <a:ext cx="54864" cy="411480"/>
          </a:xfrm>
          <a:prstGeom prst="rect">
            <a:avLst/>
          </a:prstGeom>
          <a:solidFill>
            <a:srgbClr val="3A8A3E"/>
          </a:solidFill>
          <a:ln/>
        </p:spPr>
        <p:txBody>
          <a:bodyPr/>
          <a:lstStyle/>
          <a:p>
            <a:endParaRPr lang="en-US"/>
          </a:p>
        </p:txBody>
      </p:sp>
      <p:sp>
        <p:nvSpPr>
          <p:cNvPr id="27" name="Text 25"/>
          <p:cNvSpPr/>
          <p:nvPr/>
        </p:nvSpPr>
        <p:spPr>
          <a:xfrm>
            <a:off x="512064" y="441655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[Strength 3 — reference the game]</a:t>
            </a:r>
            <a:endParaRPr lang="en-US" sz="950" dirty="0"/>
          </a:p>
        </p:txBody>
      </p:sp>
      <p:sp>
        <p:nvSpPr>
          <p:cNvPr id="28" name="Shape 26"/>
          <p:cNvSpPr/>
          <p:nvPr/>
        </p:nvSpPr>
        <p:spPr>
          <a:xfrm>
            <a:off x="3520440" y="2788920"/>
            <a:ext cx="3108960" cy="23774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29" name="Shape 27"/>
          <p:cNvSpPr/>
          <p:nvPr/>
        </p:nvSpPr>
        <p:spPr>
          <a:xfrm>
            <a:off x="3520440" y="2788920"/>
            <a:ext cx="3108960" cy="36576"/>
          </a:xfrm>
          <a:prstGeom prst="rect">
            <a:avLst/>
          </a:prstGeom>
          <a:solidFill>
            <a:srgbClr val="D4AF37"/>
          </a:solidFill>
          <a:ln/>
        </p:spPr>
        <p:txBody>
          <a:bodyPr/>
          <a:lstStyle/>
          <a:p>
            <a:endParaRPr lang="en-US"/>
          </a:p>
        </p:txBody>
      </p:sp>
      <p:sp>
        <p:nvSpPr>
          <p:cNvPr id="30" name="Text 28"/>
          <p:cNvSpPr/>
          <p:nvPr/>
        </p:nvSpPr>
        <p:spPr>
          <a:xfrm>
            <a:off x="3657600" y="2898648"/>
            <a:ext cx="283464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NEEDS WORK</a:t>
            </a:r>
            <a:endParaRPr lang="en-US" sz="800" dirty="0"/>
          </a:p>
        </p:txBody>
      </p:sp>
      <p:sp>
        <p:nvSpPr>
          <p:cNvPr id="31" name="Shape 29"/>
          <p:cNvSpPr/>
          <p:nvPr/>
        </p:nvSpPr>
        <p:spPr>
          <a:xfrm>
            <a:off x="3657600" y="3118104"/>
            <a:ext cx="2834640" cy="9144"/>
          </a:xfrm>
          <a:prstGeom prst="rect">
            <a:avLst/>
          </a:prstGeom>
          <a:solidFill>
            <a:srgbClr val="2A2A2A"/>
          </a:solidFill>
          <a:ln/>
        </p:spPr>
        <p:txBody>
          <a:bodyPr/>
          <a:lstStyle/>
          <a:p>
            <a:endParaRPr lang="en-US"/>
          </a:p>
        </p:txBody>
      </p:sp>
      <p:sp>
        <p:nvSpPr>
          <p:cNvPr id="32" name="Shape 30"/>
          <p:cNvSpPr/>
          <p:nvPr/>
        </p:nvSpPr>
        <p:spPr>
          <a:xfrm>
            <a:off x="3657600" y="3227832"/>
            <a:ext cx="54864" cy="411480"/>
          </a:xfrm>
          <a:prstGeom prst="rect">
            <a:avLst/>
          </a:prstGeom>
          <a:solidFill>
            <a:srgbClr val="D4AF37"/>
          </a:solidFill>
          <a:ln/>
        </p:spPr>
        <p:txBody>
          <a:bodyPr/>
          <a:lstStyle/>
          <a:p>
            <a:endParaRPr lang="en-US"/>
          </a:p>
        </p:txBody>
      </p:sp>
      <p:sp>
        <p:nvSpPr>
          <p:cNvPr id="33" name="Text 31"/>
          <p:cNvSpPr/>
          <p:nvPr/>
        </p:nvSpPr>
        <p:spPr>
          <a:xfrm>
            <a:off x="3803904" y="322783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1 — paste from Claude output]</a:t>
            </a:r>
            <a:endParaRPr lang="en-US" sz="950" dirty="0"/>
          </a:p>
        </p:txBody>
      </p:sp>
      <p:sp>
        <p:nvSpPr>
          <p:cNvPr id="34" name="Shape 32"/>
          <p:cNvSpPr/>
          <p:nvPr/>
        </p:nvSpPr>
        <p:spPr>
          <a:xfrm>
            <a:off x="3657600" y="3822192"/>
            <a:ext cx="54864" cy="411480"/>
          </a:xfrm>
          <a:prstGeom prst="rect">
            <a:avLst/>
          </a:prstGeom>
          <a:solidFill>
            <a:srgbClr val="D4AF37"/>
          </a:solidFill>
          <a:ln/>
        </p:spPr>
        <p:txBody>
          <a:bodyPr/>
          <a:lstStyle/>
          <a:p>
            <a:endParaRPr lang="en-US"/>
          </a:p>
        </p:txBody>
      </p:sp>
      <p:sp>
        <p:nvSpPr>
          <p:cNvPr id="35" name="Text 33"/>
          <p:cNvSpPr/>
          <p:nvPr/>
        </p:nvSpPr>
        <p:spPr>
          <a:xfrm>
            <a:off x="3803904" y="3822192"/>
            <a:ext cx="2651760" cy="411480"/>
          </a:xfrm>
          <a:prstGeom prst="rect">
            <a:avLst/>
          </a:prstGeom>
          <a:noFill/>
          <a:ln/>
        </p:spPr>
        <p:txBody>
          <a:bodyPr wrap="square" lIns="0" tIns="0" rIns="0" bIns="0" rtlCol="0" anchor="ctr"/>
          <a:lstStyle/>
          <a:p>
            <a:pPr marL="0" indent="0">
              <a:buNone/>
            </a:pPr>
            <a:r>
              <a:rPr lang="en-US" sz="950" i="1" dirty="0">
                <a:solidFill>
                  <a:srgbClr val="CCCCCC"/>
                </a:solidFill>
              </a:rPr>
              <a:t>[Work-on 2 — direct, clear, actionable]</a:t>
            </a:r>
            <a:endParaRPr lang="en-US" sz="950" dirty="0"/>
          </a:p>
        </p:txBody>
      </p:sp>
      <p:sp>
        <p:nvSpPr>
          <p:cNvPr id="36" name="Shape 34"/>
          <p:cNvSpPr/>
          <p:nvPr/>
        </p:nvSpPr>
        <p:spPr>
          <a:xfrm>
            <a:off x="228600" y="5349240"/>
            <a:ext cx="6400800" cy="777240"/>
          </a:xfrm>
          <a:prstGeom prst="rect">
            <a:avLst/>
          </a:prstGeom>
          <a:solidFill>
            <a:srgbClr val="1C1C1C"/>
          </a:solidFill>
          <a:ln w="6350">
            <a:solidFill>
              <a:srgbClr val="2A2A2A"/>
            </a:solidFill>
            <a:prstDash val="solid"/>
          </a:ln>
          <a:effectLst>
            <a:outerShdw blurRad="76200" dist="25400" dir="8100000" algn="bl" rotWithShape="0">
              <a:srgbClr val="000000">
                <a:alpha val="25000"/>
              </a:srgbClr>
            </a:outerShdw>
          </a:effectLst>
        </p:spPr>
        <p:txBody>
          <a:bodyPr/>
          <a:lstStyle/>
          <a:p>
            <a:endParaRPr lang="en-US"/>
          </a:p>
        </p:txBody>
      </p:sp>
      <p:sp>
        <p:nvSpPr>
          <p:cNvPr id="37" name="Shape 35"/>
          <p:cNvSpPr/>
          <p:nvPr/>
        </p:nvSpPr>
        <p:spPr>
          <a:xfrm>
            <a:off x="228600" y="5349240"/>
            <a:ext cx="6400800" cy="36576"/>
          </a:xfrm>
          <a:prstGeom prst="rect">
            <a:avLst/>
          </a:prstGeom>
          <a:solidFill>
            <a:srgbClr val="D4AF37"/>
          </a:solidFill>
          <a:ln/>
        </p:spPr>
        <p:txBody>
          <a:bodyPr/>
          <a:lstStyle/>
          <a:p>
            <a:endParaRPr lang="en-US"/>
          </a:p>
        </p:txBody>
      </p:sp>
      <p:sp>
        <p:nvSpPr>
          <p:cNvPr id="38" name="Text 36"/>
          <p:cNvSpPr/>
          <p:nvPr/>
        </p:nvSpPr>
        <p:spPr>
          <a:xfrm>
            <a:off x="365760" y="54406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NEXT GAME FOCUS</a:t>
            </a:r>
            <a:endParaRPr lang="en-US" sz="800" dirty="0"/>
          </a:p>
        </p:txBody>
      </p:sp>
      <p:sp>
        <p:nvSpPr>
          <p:cNvPr id="39" name="Text 37"/>
          <p:cNvSpPr/>
          <p:nvPr/>
        </p:nvSpPr>
        <p:spPr>
          <a:xfrm>
            <a:off x="365760" y="5641848"/>
            <a:ext cx="6126480" cy="384048"/>
          </a:xfrm>
          <a:prstGeom prst="rect">
            <a:avLst/>
          </a:prstGeom>
          <a:noFill/>
          <a:ln/>
        </p:spPr>
        <p:txBody>
          <a:bodyPr wrap="square" lIns="0" tIns="0" rIns="0" bIns="0" rtlCol="0" anchor="t"/>
          <a:lstStyle/>
          <a:p>
            <a:pPr marL="0" indent="0">
              <a:buNone/>
            </a:pPr>
            <a:r>
              <a:rPr lang="en-US" sz="1100" i="1" dirty="0">
                <a:solidFill>
                  <a:srgbClr val="FFFFFF"/>
                </a:solidFill>
              </a:rPr>
              <a:t>[One sentence — the single most important thing heading into the next match. Paste from Claude output.]</a:t>
            </a:r>
            <a:endParaRPr lang="en-US" sz="1100" dirty="0"/>
          </a:p>
        </p:txBody>
      </p:sp>
      <p:sp>
        <p:nvSpPr>
          <p:cNvPr id="40" name="Shape 38"/>
          <p:cNvSpPr/>
          <p:nvPr/>
        </p:nvSpPr>
        <p:spPr>
          <a:xfrm>
            <a:off x="228600" y="6309360"/>
            <a:ext cx="6400800" cy="475488"/>
          </a:xfrm>
          <a:prstGeom prst="rect">
            <a:avLst/>
          </a:prstGeom>
          <a:solidFill>
            <a:srgbClr val="0A0A0A"/>
          </a:solidFill>
          <a:ln w="6350">
            <a:solidFill>
              <a:srgbClr val="2A2A2A"/>
            </a:solidFill>
            <a:prstDash val="solid"/>
          </a:ln>
        </p:spPr>
        <p:txBody>
          <a:bodyPr/>
          <a:lstStyle/>
          <a:p>
            <a:endParaRPr lang="en-US"/>
          </a:p>
        </p:txBody>
      </p:sp>
      <p:sp>
        <p:nvSpPr>
          <p:cNvPr id="41" name="Text 39"/>
          <p:cNvSpPr/>
          <p:nvPr/>
        </p:nvSpPr>
        <p:spPr>
          <a:xfrm>
            <a:off x="365760" y="6355080"/>
            <a:ext cx="731520" cy="384048"/>
          </a:xfrm>
          <a:prstGeom prst="rect">
            <a:avLst/>
          </a:prstGeom>
          <a:noFill/>
          <a:ln/>
        </p:spPr>
        <p:txBody>
          <a:bodyPr wrap="square" lIns="0" tIns="0" rIns="0" bIns="0" rtlCol="0" anchor="ctr"/>
          <a:lstStyle/>
          <a:p>
            <a:pPr marL="0" indent="0">
              <a:buNone/>
            </a:pPr>
            <a:r>
              <a:rPr lang="en-US" sz="800" b="1" kern="0" spc="200" dirty="0">
                <a:solidFill>
                  <a:srgbClr val="D4AF37"/>
                </a:solidFill>
              </a:rPr>
              <a:t>DATA</a:t>
            </a:r>
            <a:endParaRPr lang="en-US" sz="800" dirty="0"/>
          </a:p>
        </p:txBody>
      </p:sp>
      <p:sp>
        <p:nvSpPr>
          <p:cNvPr id="42" name="Text 40"/>
          <p:cNvSpPr/>
          <p:nvPr/>
        </p:nvSpPr>
        <p:spPr>
          <a:xfrm>
            <a:off x="1005840" y="6355080"/>
            <a:ext cx="5394960" cy="384048"/>
          </a:xfrm>
          <a:prstGeom prst="rect">
            <a:avLst/>
          </a:prstGeom>
          <a:noFill/>
          <a:ln/>
        </p:spPr>
        <p:txBody>
          <a:bodyPr wrap="square" lIns="0" tIns="0" rIns="0" bIns="0" rtlCol="0" anchor="ctr"/>
          <a:lstStyle/>
          <a:p>
            <a:pPr marL="0" indent="0">
              <a:buNone/>
            </a:pPr>
            <a:r>
              <a:rPr lang="en-US" sz="900" i="1" dirty="0">
                <a:solidFill>
                  <a:srgbClr val="CCCCCC"/>
                </a:solidFill>
              </a:rPr>
              <a:t>[Total distance: 7.2km  |  Sprints: 23  |  Circle entries: 12 (3 direct)  |  Tackles: 8/10]</a:t>
            </a:r>
            <a:endParaRPr lang="en-US" sz="900" dirty="0"/>
          </a:p>
        </p:txBody>
      </p:sp>
      <p:sp>
        <p:nvSpPr>
          <p:cNvPr id="43" name="Shape 41"/>
          <p:cNvSpPr/>
          <p:nvPr/>
        </p:nvSpPr>
        <p:spPr>
          <a:xfrm>
            <a:off x="228600" y="6949440"/>
            <a:ext cx="6400800" cy="777240"/>
          </a:xfrm>
          <a:prstGeom prst="rect">
            <a:avLst/>
          </a:prstGeom>
          <a:solidFill>
            <a:srgbClr val="1C1C1C"/>
          </a:solidFill>
          <a:ln w="9525">
            <a:solidFill>
              <a:srgbClr val="D4AF37"/>
            </a:solidFill>
            <a:prstDash val="solid"/>
          </a:ln>
          <a:effectLst>
            <a:outerShdw blurRad="76200" dist="25400" dir="8100000" algn="bl" rotWithShape="0">
              <a:srgbClr val="000000">
                <a:alpha val="25000"/>
              </a:srgbClr>
            </a:outerShdw>
          </a:effectLst>
        </p:spPr>
        <p:txBody>
          <a:bodyPr/>
          <a:lstStyle/>
          <a:p>
            <a:endParaRPr lang="en-US"/>
          </a:p>
        </p:txBody>
      </p:sp>
      <p:sp>
        <p:nvSpPr>
          <p:cNvPr id="44" name="Text 42"/>
          <p:cNvSpPr/>
          <p:nvPr/>
        </p:nvSpPr>
        <p:spPr>
          <a:xfrm>
            <a:off x="365760" y="7040880"/>
            <a:ext cx="6126480" cy="182880"/>
          </a:xfrm>
          <a:prstGeom prst="rect">
            <a:avLst/>
          </a:prstGeom>
          <a:noFill/>
          <a:ln/>
        </p:spPr>
        <p:txBody>
          <a:bodyPr wrap="square" lIns="0" tIns="0" rIns="0" bIns="0" rtlCol="0" anchor="ctr"/>
          <a:lstStyle/>
          <a:p>
            <a:pPr marL="0" indent="0">
              <a:buNone/>
            </a:pPr>
            <a:r>
              <a:rPr lang="en-US" sz="800" b="1" kern="0" spc="300" dirty="0">
                <a:solidFill>
                  <a:srgbClr val="D4AF37"/>
                </a:solidFill>
              </a:rPr>
              <a:t>OVER TO YOU</a:t>
            </a:r>
            <a:endParaRPr lang="en-US" sz="800" dirty="0"/>
          </a:p>
        </p:txBody>
      </p:sp>
      <p:sp>
        <p:nvSpPr>
          <p:cNvPr id="45" name="Text 43"/>
          <p:cNvSpPr/>
          <p:nvPr/>
        </p:nvSpPr>
        <p:spPr>
          <a:xfrm>
            <a:off x="365760" y="7242048"/>
            <a:ext cx="6126480" cy="411480"/>
          </a:xfrm>
          <a:prstGeom prst="rect">
            <a:avLst/>
          </a:prstGeom>
          <a:noFill/>
          <a:ln/>
        </p:spPr>
        <p:txBody>
          <a:bodyPr wrap="square" lIns="0" tIns="0" rIns="0" bIns="0" rtlCol="0" anchor="t"/>
          <a:lstStyle/>
          <a:p>
            <a:pPr marL="0" indent="0">
              <a:buNone/>
            </a:pPr>
            <a:r>
              <a:rPr lang="en-US" sz="1000" i="1" dirty="0">
                <a:solidFill>
                  <a:srgbClr val="FFFFFF"/>
                </a:solidFill>
              </a:rPr>
              <a:t>[Watch your clips from the second half press. Come back to me with what you'd change about your positioning at the top of the diamond. What's the one thing you're going to own before India?]</a:t>
            </a:r>
            <a:endParaRPr lang="en-US" sz="1000" dirty="0"/>
          </a:p>
        </p:txBody>
      </p:sp>
      <p:sp>
        <p:nvSpPr>
          <p:cNvPr id="46" name="Shape 44"/>
          <p:cNvSpPr/>
          <p:nvPr/>
        </p:nvSpPr>
        <p:spPr>
          <a:xfrm>
            <a:off x="0" y="8851392"/>
            <a:ext cx="6858000" cy="292608"/>
          </a:xfrm>
          <a:prstGeom prst="rect">
            <a:avLst/>
          </a:prstGeom>
          <a:solidFill>
            <a:srgbClr val="0A0A0A"/>
          </a:solidFill>
          <a:ln/>
        </p:spPr>
        <p:txBody>
          <a:bodyPr/>
          <a:lstStyle/>
          <a:p>
            <a:endParaRPr lang="en-US"/>
          </a:p>
        </p:txBody>
      </p:sp>
      <p:sp>
        <p:nvSpPr>
          <p:cNvPr id="47" name="Text 45"/>
          <p:cNvSpPr/>
          <p:nvPr/>
        </p:nvSpPr>
        <p:spPr>
          <a:xfrm>
            <a:off x="182880" y="8851392"/>
            <a:ext cx="3657600" cy="292608"/>
          </a:xfrm>
          <a:prstGeom prst="rect">
            <a:avLst/>
          </a:prstGeom>
          <a:noFill/>
          <a:ln/>
        </p:spPr>
        <p:txBody>
          <a:bodyPr wrap="square" lIns="0" tIns="0" rIns="0" bIns="0" rtlCol="0" anchor="ctr"/>
          <a:lstStyle/>
          <a:p>
            <a:pPr marL="0" indent="0">
              <a:buNone/>
            </a:pPr>
            <a:r>
              <a:rPr lang="en-US" sz="750" dirty="0">
                <a:solidFill>
                  <a:srgbClr val="888888"/>
                </a:solidFill>
              </a:rPr>
              <a:t>Accountability  ·  Consistency  ·  Action</a:t>
            </a:r>
            <a:endParaRPr lang="en-US" sz="750" dirty="0"/>
          </a:p>
        </p:txBody>
      </p:sp>
      <p:sp>
        <p:nvSpPr>
          <p:cNvPr id="48" name="Text 46"/>
          <p:cNvSpPr/>
          <p:nvPr/>
        </p:nvSpPr>
        <p:spPr>
          <a:xfrm>
            <a:off x="3657600" y="8851392"/>
            <a:ext cx="3017520" cy="292608"/>
          </a:xfrm>
          <a:prstGeom prst="rect">
            <a:avLst/>
          </a:prstGeom>
          <a:noFill/>
          <a:ln/>
        </p:spPr>
        <p:txBody>
          <a:bodyPr wrap="square" lIns="0" tIns="0" rIns="0" bIns="0" rtlCol="0" anchor="ctr"/>
          <a:lstStyle/>
          <a:p>
            <a:pPr marL="0" indent="0" algn="r">
              <a:buNone/>
            </a:pPr>
            <a:r>
              <a:rPr lang="en-US" sz="750" kern="0" spc="100" dirty="0">
                <a:solidFill>
                  <a:srgbClr val="888888"/>
                </a:solidFill>
              </a:rPr>
              <a:t>ELV8 PERFORMANCE  ·  CONFIDENTIAL</a:t>
            </a:r>
            <a:endParaRPr lang="en-US" sz="750" dirty="0"/>
          </a:p>
        </p:txBody>
      </p:sp>
      <p:sp>
        <p:nvSpPr>
          <p:cNvPr id="49" name="Freeform 8">
            <a:extLst>
              <a:ext uri="{FF2B5EF4-FFF2-40B4-BE49-F238E27FC236}">
                <a16:creationId xmlns:a16="http://schemas.microsoft.com/office/drawing/2014/main" id="{FC2E16A3-640C-A017-CB79-C911F1C2DF82}"/>
              </a:ext>
            </a:extLst>
          </p:cNvPr>
          <p:cNvSpPr/>
          <p:nvPr/>
        </p:nvSpPr>
        <p:spPr>
          <a:xfrm>
            <a:off x="-30514" y="436626"/>
            <a:ext cx="2211627" cy="2267712"/>
          </a:xfrm>
          <a:custGeom>
            <a:avLst/>
            <a:gdLst/>
            <a:ahLst/>
            <a:cxnLst/>
            <a:rect l="l" t="t" r="r" b="b"/>
            <a:pathLst>
              <a:path w="8704798" h="6811505">
                <a:moveTo>
                  <a:pt x="0" y="0"/>
                </a:moveTo>
                <a:lnTo>
                  <a:pt x="8704798" y="0"/>
                </a:lnTo>
                <a:lnTo>
                  <a:pt x="8704798" y="6811504"/>
                </a:lnTo>
                <a:lnTo>
                  <a:pt x="0" y="6811504"/>
                </a:lnTo>
                <a:lnTo>
                  <a:pt x="0" y="0"/>
                </a:lnTo>
                <a:close/>
              </a:path>
            </a:pathLst>
          </a:custGeom>
          <a:blipFill>
            <a:blip r:embed="rId3"/>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Words>
  <Application>Microsoft Macintosh PowerPoint</Application>
  <PresentationFormat>On-screen Show (4:3)</PresentationFormat>
  <Paragraphs>27</Paragraphs>
  <Slides>1</Slides>
  <Notes>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vt:i4>
      </vt:variant>
    </vt:vector>
  </HeadingPairs>
  <TitlesOfParts>
    <vt:vector size="3" baseType="lpstr">
      <vt:lpstr>Arial</vt:lpstr>
      <vt:lpstr>Office Theme</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Sticks — Player Feedback One-Pager</dc:title>
  <dc:subject>PptxGenJS Presentation</dc:subject>
  <dc:creator>ELV8 Performance</dc:creator>
  <cp:lastModifiedBy>Shea McAleese</cp:lastModifiedBy>
  <cp:revision>2</cp:revision>
  <dcterms:created xsi:type="dcterms:W3CDTF">2026-03-14T07:23:06Z</dcterms:created>
  <dcterms:modified xsi:type="dcterms:W3CDTF">2026-03-14T08:08:42Z</dcterms:modified>
</cp:coreProperties>
</file>