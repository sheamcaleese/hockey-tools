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PERFORMANCE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68680"/>
            <a:ext cx="8503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OPPONENT
SCOUTING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212848"/>
            <a:ext cx="3200400" cy="27432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331720"/>
            <a:ext cx="8503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C8C8C8"/>
                </a:solidFill>
                <a:latin typeface="Calibri"/>
              </a:rPr>
              <a:t>[Opponent Name]  |  [Tournament]  |  [Date of Analysis]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45770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Updated before each tournament. Add observations from every game played against this team.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68630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BLACK STICKS MEN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[OPPONENT]  |  TEAM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[TOURNAMENT]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2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Team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192024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1615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B8C4CC"/>
                </a:solidFill>
                <a:latin typeface="Calibri"/>
              </a:rPr>
              <a:t>WORLD RANKING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44752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[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1170432"/>
            <a:ext cx="192024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21615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B8C4CC"/>
                </a:solidFill>
                <a:latin typeface="Calibri"/>
              </a:rPr>
              <a:t>HEAD COACH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1444752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[ 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170432"/>
            <a:ext cx="192024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121615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B8C4CC"/>
                </a:solidFill>
                <a:latin typeface="Calibri"/>
              </a:rPr>
              <a:t>KEY PLAYERS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1444752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[ 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59" y="1170432"/>
            <a:ext cx="192024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7999" y="121615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B8C4CC"/>
                </a:solidFill>
                <a:latin typeface="Calibri"/>
              </a:rPr>
              <a:t>LAST RESULT vs NZ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7999" y="1444752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[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121408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PLAYING IDENTITY / STYLE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322576"/>
            <a:ext cx="8229600" cy="10515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450592"/>
            <a:ext cx="7955279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  <a:latin typeface="Calibri"/>
              </a:rPr>
              <a:t>[ How do they play? High press, possession-based, direct, physical, technical? What's their identity?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52044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STRENGTHS (Top 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721608"/>
            <a:ext cx="3931920" cy="1097280"/>
          </a:xfrm>
          <a:prstGeom prst="rect">
            <a:avLst/>
          </a:prstGeom>
          <a:solidFill>
            <a:srgbClr val="1A1A1A"/>
          </a:solidFill>
          <a:ln w="6350">
            <a:solidFill>
              <a:srgbClr val="D4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858768"/>
            <a:ext cx="363931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[ Their three biggest weapons. Be specific — positions, patterns, set plays.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52044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VULNERABILITIES (Top 3)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3721608"/>
            <a:ext cx="4023360" cy="1097280"/>
          </a:xfrm>
          <a:prstGeom prst="rect">
            <a:avLst/>
          </a:prstGeom>
          <a:solidFill>
            <a:srgbClr val="1A1A1A"/>
          </a:solidFill>
          <a:ln w="6350">
            <a:solidFill>
              <a:srgbClr val="4CA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3858768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[ Where can we hurt them? Defensive transitions, aerial balls, press structure, set piece defending?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[OPPONENT]  |  DEFENSIVE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[TOURNAMENT]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3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They Defend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8229600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70432"/>
            <a:ext cx="36576" cy="594360"/>
          </a:xfrm>
          <a:prstGeom prst="rect">
            <a:avLst/>
          </a:prstGeom>
          <a:solidFill>
            <a:srgbClr val="D4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280160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DEFENSIVE 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517904"/>
            <a:ext cx="80101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[ 4-4-2? 5-3-2? Back line structure when defending.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01952"/>
            <a:ext cx="8229600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901952"/>
            <a:ext cx="36576" cy="594360"/>
          </a:xfrm>
          <a:prstGeom prst="rect">
            <a:avLst/>
          </a:prstGeom>
          <a:solidFill>
            <a:srgbClr val="D4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011680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PRESS TRIGGERS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249424"/>
            <a:ext cx="80101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When do they press? What triggers their press? Long balls, keeper possession, wide play?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33472"/>
            <a:ext cx="8229600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633472"/>
            <a:ext cx="36576" cy="594360"/>
          </a:xfrm>
          <a:prstGeom prst="rect">
            <a:avLst/>
          </a:prstGeom>
          <a:solidFill>
            <a:srgbClr val="D4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743200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DEFENSIVE BLOCK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980944"/>
            <a:ext cx="80101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How do they sit in a mid-block? Where is space available?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364992"/>
            <a:ext cx="8229600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364992"/>
            <a:ext cx="36576" cy="594360"/>
          </a:xfrm>
          <a:prstGeom prst="rect">
            <a:avLst/>
          </a:prstGeom>
          <a:solidFill>
            <a:srgbClr val="D4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474720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SET PIECE DEFENCE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712464"/>
            <a:ext cx="80101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How do they defend corners and short corners? Marking scheme, positioning, sweeper. 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096512"/>
            <a:ext cx="8229600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096512"/>
            <a:ext cx="36576" cy="594360"/>
          </a:xfrm>
          <a:prstGeom prst="rect">
            <a:avLst/>
          </a:prstGeom>
          <a:solidFill>
            <a:srgbClr val="D4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4206240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TRANSITION — LOSING POSSESSION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443984"/>
            <a:ext cx="80101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What do they do immediately after losing the ball?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[OPPONENT]  |  ATTACKING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[TOURNAMENT]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4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They Attack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8229600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70432"/>
            <a:ext cx="36576" cy="594360"/>
          </a:xfrm>
          <a:prstGeom prst="rect">
            <a:avLst/>
          </a:prstGeom>
          <a:solidFill>
            <a:srgbClr val="4C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280160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BUILD-UP 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517904"/>
            <a:ext cx="80101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How do they build from the back? GK distribution, wide or central build, overloads?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01952"/>
            <a:ext cx="8229600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901952"/>
            <a:ext cx="36576" cy="594360"/>
          </a:xfrm>
          <a:prstGeom prst="rect">
            <a:avLst/>
          </a:prstGeom>
          <a:solidFill>
            <a:srgbClr val="4C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011680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ATTACK TRANSITION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249424"/>
            <a:ext cx="80101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How fast do they transition? Counter-attack patterns, runners, key threats in transition.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33472"/>
            <a:ext cx="8229600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633472"/>
            <a:ext cx="36576" cy="594360"/>
          </a:xfrm>
          <a:prstGeom prst="rect">
            <a:avLst/>
          </a:prstGeom>
          <a:solidFill>
            <a:srgbClr val="4C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743200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DANGEROUS ZONES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980944"/>
            <a:ext cx="80101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Where do most of their attacks come from? Left side, right side, central, high balls?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364992"/>
            <a:ext cx="8229600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364992"/>
            <a:ext cx="36576" cy="594360"/>
          </a:xfrm>
          <a:prstGeom prst="rect">
            <a:avLst/>
          </a:prstGeom>
          <a:solidFill>
            <a:srgbClr val="4C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474720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SET PIECE ATTACK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712464"/>
            <a:ext cx="80101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Corner and short corner structures. PC routine. Free hit patterns. 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096512"/>
            <a:ext cx="8229600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096512"/>
            <a:ext cx="36576" cy="594360"/>
          </a:xfrm>
          <a:prstGeom prst="rect">
            <a:avLst/>
          </a:prstGeom>
          <a:solidFill>
            <a:srgbClr val="4C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4206240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KEY ATTACKING PLAYER(S)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443984"/>
            <a:ext cx="80101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Who is the danger man? Number, name, their role and tendency.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[OPPONENT]  |  KEY THREATS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[TOURNAMENT]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5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Three Biggest Threats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These are the patterns we must have a plan for. Brief the team specifically.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457200" cy="960120"/>
          </a:xfrm>
          <a:prstGeom prst="rect">
            <a:avLst/>
          </a:prstGeom>
          <a:solidFill>
            <a:srgbClr val="D4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4572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" y="1417320"/>
            <a:ext cx="7744968" cy="96012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14904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THREAT TITLE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1737360"/>
            <a:ext cx="742492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[ Description of the threat — who, where, how it develops, and our planned response 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457200" cy="960120"/>
          </a:xfrm>
          <a:prstGeom prst="rect">
            <a:avLst/>
          </a:prstGeom>
          <a:solidFill>
            <a:srgbClr val="D4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514600"/>
            <a:ext cx="4572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1832" y="2514600"/>
            <a:ext cx="7744968" cy="96012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258775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THREAT TITLE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2834640"/>
            <a:ext cx="742492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[ Description of the threat — who, where, how it develops, and our planned response 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11880"/>
            <a:ext cx="457200" cy="960120"/>
          </a:xfrm>
          <a:prstGeom prst="rect">
            <a:avLst/>
          </a:prstGeom>
          <a:solidFill>
            <a:srgbClr val="D4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611880"/>
            <a:ext cx="4572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" y="3611880"/>
            <a:ext cx="7744968" cy="96012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368503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THREAT TITLE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3931920"/>
            <a:ext cx="742492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[ Description of the threat — who, where, how it develops, and our planned response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[OPPONENT]  |  OUR GAME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[TOURNAMENT]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6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We Will Approach This Game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822960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70432"/>
            <a:ext cx="36576" cy="77724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280160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OUR ATTACKING PRIORITY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517904"/>
            <a:ext cx="8010144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Where and how will we create? What spaces will we target?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84832"/>
            <a:ext cx="822960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084832"/>
            <a:ext cx="36576" cy="77724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194560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OUR DEFENSIVE PRIORITY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432304"/>
            <a:ext cx="8010144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How will we neutralise their biggest threat? Our structure / press plan.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99232"/>
            <a:ext cx="822960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999232"/>
            <a:ext cx="36576" cy="77724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108960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SET PIECE 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346704"/>
            <a:ext cx="8010144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PC routine selected. Corner and free hit plan.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13632"/>
            <a:ext cx="822960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13632"/>
            <a:ext cx="36576" cy="77724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4023360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THE PSYCHOLOGICAL 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261104"/>
            <a:ext cx="8010144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What is our mental / cultural advantage in this match?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[OPPONENT]  |  SCOUTING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Updated Each Tournament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7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Running Observations 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Add a row each time you play or watch this team. This becomes your living intelligence database.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645920" cy="347472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417320"/>
            <a:ext cx="15361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0D0D0D"/>
                </a:solidFill>
                <a:latin typeface="Calibri"/>
              </a:rPr>
              <a:t>DATE / TOURNAMENT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21408" y="1417320"/>
            <a:ext cx="914400" cy="347472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76272" y="1417320"/>
            <a:ext cx="80467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0D0D0D"/>
                </a:solidFill>
                <a:latin typeface="Calibri"/>
              </a:rPr>
              <a:t>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1417320"/>
            <a:ext cx="4114800" cy="347472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18104" y="1417320"/>
            <a:ext cx="400507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0D0D0D"/>
                </a:solidFill>
                <a:latin typeface="Calibri"/>
              </a:rPr>
              <a:t>KEY OBSERVATION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5472" y="1417320"/>
            <a:ext cx="2011680" cy="347472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1417320"/>
            <a:ext cx="190195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0D0D0D"/>
                </a:solidFill>
                <a:latin typeface="Calibri"/>
              </a:rPr>
              <a:t>ACTION TAKEN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783080"/>
            <a:ext cx="1645920" cy="566928"/>
          </a:xfrm>
          <a:prstGeom prst="rect">
            <a:avLst/>
          </a:prstGeom>
          <a:solidFill>
            <a:srgbClr val="1A1A1A"/>
          </a:solidFill>
          <a:ln w="381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1874519"/>
            <a:ext cx="15361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[ 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21408" y="1783080"/>
            <a:ext cx="914400" cy="566928"/>
          </a:xfrm>
          <a:prstGeom prst="rect">
            <a:avLst/>
          </a:prstGeom>
          <a:solidFill>
            <a:srgbClr val="1A1A1A"/>
          </a:solidFill>
          <a:ln w="381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76272" y="1874519"/>
            <a:ext cx="8046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[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63240" y="1783080"/>
            <a:ext cx="4114800" cy="566928"/>
          </a:xfrm>
          <a:prstGeom prst="rect">
            <a:avLst/>
          </a:prstGeom>
          <a:solidFill>
            <a:srgbClr val="1A1A1A"/>
          </a:solidFill>
          <a:ln w="381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18104" y="1874519"/>
            <a:ext cx="4005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[ 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5472" y="1783080"/>
            <a:ext cx="2011680" cy="566928"/>
          </a:xfrm>
          <a:prstGeom prst="rect">
            <a:avLst/>
          </a:prstGeom>
          <a:solidFill>
            <a:srgbClr val="1A1A1A"/>
          </a:solidFill>
          <a:ln w="381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0336" y="1874519"/>
            <a:ext cx="190195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[ 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404872"/>
            <a:ext cx="1645920" cy="566928"/>
          </a:xfrm>
          <a:prstGeom prst="rect">
            <a:avLst/>
          </a:prstGeom>
          <a:solidFill>
            <a:srgbClr val="171717"/>
          </a:solidFill>
          <a:ln w="381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2496312"/>
            <a:ext cx="15361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[ 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21408" y="2404872"/>
            <a:ext cx="914400" cy="566928"/>
          </a:xfrm>
          <a:prstGeom prst="rect">
            <a:avLst/>
          </a:prstGeom>
          <a:solidFill>
            <a:srgbClr val="171717"/>
          </a:solidFill>
          <a:ln w="381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76272" y="2496312"/>
            <a:ext cx="8046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[ 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63240" y="2404872"/>
            <a:ext cx="4114800" cy="566928"/>
          </a:xfrm>
          <a:prstGeom prst="rect">
            <a:avLst/>
          </a:prstGeom>
          <a:solidFill>
            <a:srgbClr val="171717"/>
          </a:solidFill>
          <a:ln w="381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18104" y="2496312"/>
            <a:ext cx="4005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[ 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404872"/>
            <a:ext cx="2011680" cy="566928"/>
          </a:xfrm>
          <a:prstGeom prst="rect">
            <a:avLst/>
          </a:prstGeom>
          <a:solidFill>
            <a:srgbClr val="171717"/>
          </a:solidFill>
          <a:ln w="381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0336" y="2496312"/>
            <a:ext cx="190195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[ 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026664"/>
            <a:ext cx="1645920" cy="566928"/>
          </a:xfrm>
          <a:prstGeom prst="rect">
            <a:avLst/>
          </a:prstGeom>
          <a:solidFill>
            <a:srgbClr val="1A1A1A"/>
          </a:solidFill>
          <a:ln w="381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" y="3118104"/>
            <a:ext cx="15361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[ 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21408" y="3026664"/>
            <a:ext cx="914400" cy="566928"/>
          </a:xfrm>
          <a:prstGeom prst="rect">
            <a:avLst/>
          </a:prstGeom>
          <a:solidFill>
            <a:srgbClr val="1A1A1A"/>
          </a:solidFill>
          <a:ln w="381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76272" y="3118104"/>
            <a:ext cx="8046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[ 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63240" y="3026664"/>
            <a:ext cx="4114800" cy="566928"/>
          </a:xfrm>
          <a:prstGeom prst="rect">
            <a:avLst/>
          </a:prstGeom>
          <a:solidFill>
            <a:srgbClr val="1A1A1A"/>
          </a:solidFill>
          <a:ln w="381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18104" y="3118104"/>
            <a:ext cx="4005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[ 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05472" y="3026664"/>
            <a:ext cx="2011680" cy="566928"/>
          </a:xfrm>
          <a:prstGeom prst="rect">
            <a:avLst/>
          </a:prstGeom>
          <a:solidFill>
            <a:srgbClr val="1A1A1A"/>
          </a:solidFill>
          <a:ln w="381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3118104"/>
            <a:ext cx="190195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[ 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648456"/>
            <a:ext cx="1645920" cy="566928"/>
          </a:xfrm>
          <a:prstGeom prst="rect">
            <a:avLst/>
          </a:prstGeom>
          <a:solidFill>
            <a:srgbClr val="171717"/>
          </a:solidFill>
          <a:ln w="381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2064" y="3739896"/>
            <a:ext cx="15361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[ 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21408" y="3648456"/>
            <a:ext cx="914400" cy="566928"/>
          </a:xfrm>
          <a:prstGeom prst="rect">
            <a:avLst/>
          </a:prstGeom>
          <a:solidFill>
            <a:srgbClr val="171717"/>
          </a:solidFill>
          <a:ln w="381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76272" y="3739896"/>
            <a:ext cx="8046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[ ]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63240" y="3648456"/>
            <a:ext cx="4114800" cy="566928"/>
          </a:xfrm>
          <a:prstGeom prst="rect">
            <a:avLst/>
          </a:prstGeom>
          <a:solidFill>
            <a:srgbClr val="171717"/>
          </a:solidFill>
          <a:ln w="381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18104" y="3739896"/>
            <a:ext cx="4005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[ 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05472" y="3648456"/>
            <a:ext cx="2011680" cy="566928"/>
          </a:xfrm>
          <a:prstGeom prst="rect">
            <a:avLst/>
          </a:prstGeom>
          <a:solidFill>
            <a:srgbClr val="171717"/>
          </a:solidFill>
          <a:ln w="381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60336" y="3739896"/>
            <a:ext cx="190195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[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