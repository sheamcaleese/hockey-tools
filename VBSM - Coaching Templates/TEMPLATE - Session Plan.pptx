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94360"/>
            <a:ext cx="8503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COACHING SESSION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68680"/>
            <a:ext cx="85039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SESSION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2212848"/>
            <a:ext cx="3200400" cy="27432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2331720"/>
            <a:ext cx="8503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C8C8C8"/>
                </a:solidFill>
                <a:latin typeface="Calibri"/>
              </a:rPr>
              <a:t>[Session Theme]  |  [Date]  |  [Duration]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45770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AAAAAA"/>
                </a:solidFill>
                <a:latin typeface="Calibri"/>
              </a:rPr>
              <a:t>Complete before each session. 10-min prep. File in the relevant theme folder after.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468630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  <a:latin typeface="Calibri"/>
              </a:rPr>
              <a:t>HNZ | BLACK STICKS MEN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36576"/>
            <a:ext cx="54864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SESSION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36576"/>
            <a:ext cx="38404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Calibri"/>
              </a:rPr>
              <a:t>[DATE]  |  [SESSION THEME]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85089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AAAAAA"/>
                </a:solidFill>
                <a:latin typeface="Calibri"/>
              </a:rPr>
              <a:t>2 /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85089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  <a:latin typeface="Calibri"/>
              </a:rPr>
              <a:t>HNZ | VBSM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Session Setup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07008"/>
            <a:ext cx="2606040" cy="804672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80160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B8C4CC"/>
                </a:solidFill>
                <a:latin typeface="Calibri"/>
              </a:rPr>
              <a:t>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527048"/>
            <a:ext cx="24231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AAAAAA"/>
                </a:solidFill>
                <a:latin typeface="Calibri"/>
              </a:rPr>
              <a:t>[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207008"/>
            <a:ext cx="2606040" cy="804672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280160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B8C4CC"/>
                </a:solidFill>
                <a:latin typeface="Calibri"/>
              </a:rPr>
              <a:t>SESSION THEME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1527048"/>
            <a:ext cx="24231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AAAAAA"/>
                </a:solidFill>
                <a:latin typeface="Calibri"/>
              </a:rPr>
              <a:t>[ e.g. Defensive Press 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207008"/>
            <a:ext cx="2606040" cy="804672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280160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B8C4CC"/>
                </a:solidFill>
                <a:latin typeface="Calibri"/>
              </a:rPr>
              <a:t>DURATION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527048"/>
            <a:ext cx="24231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AAAAAA"/>
                </a:solidFill>
                <a:latin typeface="Calibri"/>
              </a:rPr>
              <a:t>[ 90 min 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167128"/>
            <a:ext cx="2606040" cy="804672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240280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B8C4CC"/>
                </a:solidFill>
                <a:latin typeface="Calibri"/>
              </a:rPr>
              <a:t>PLAYERS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2487168"/>
            <a:ext cx="24231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AAAAAA"/>
                </a:solidFill>
                <a:latin typeface="Calibri"/>
              </a:rPr>
              <a:t>[ Full squad / reduced 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40" y="2167128"/>
            <a:ext cx="2606040" cy="804672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83280" y="2240280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B8C4CC"/>
                </a:solidFill>
                <a:latin typeface="Calibri"/>
              </a:rPr>
              <a:t>PITCH AREA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2487168"/>
            <a:ext cx="24231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AAAAAA"/>
                </a:solidFill>
                <a:latin typeface="Calibri"/>
              </a:rPr>
              <a:t>[ Full pitch / half 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2167128"/>
            <a:ext cx="2606040" cy="804672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2240280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B8C4CC"/>
                </a:solidFill>
                <a:latin typeface="Calibri"/>
              </a:rPr>
              <a:t>FOCUS PHASE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2487168"/>
            <a:ext cx="24231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AAAAAA"/>
                </a:solidFill>
                <a:latin typeface="Calibri"/>
              </a:rPr>
              <a:t>[ DEF / MID / ATT / FULL 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218688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B8C4CC"/>
                </a:solidFill>
                <a:latin typeface="Calibri"/>
              </a:rPr>
              <a:t>SESSION OBJECTIVES (2–3 max)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419856"/>
            <a:ext cx="8229600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B8C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3419856"/>
            <a:ext cx="64008" cy="914400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3520440"/>
            <a:ext cx="78638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AAAAAA"/>
                </a:solidFill>
                <a:latin typeface="Calibri"/>
              </a:rPr>
              <a:t>[ Objective 1 — specific and observable 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3776472"/>
            <a:ext cx="78638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AAAAAA"/>
                </a:solidFill>
                <a:latin typeface="Calibri"/>
              </a:rPr>
              <a:t>[ Objective 2 — specific and observable 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4032504"/>
            <a:ext cx="78638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AAAAAA"/>
                </a:solidFill>
                <a:latin typeface="Calibri"/>
              </a:rPr>
              <a:t>[ Objective 3 — specific and observable 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36576"/>
            <a:ext cx="54864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ACTIVATION  |  0–15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36576"/>
            <a:ext cx="38404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Calibri"/>
              </a:rPr>
              <a:t>[SESSION THEME]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85089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AAAAAA"/>
                </a:solidFill>
                <a:latin typeface="Calibri"/>
              </a:rPr>
              <a:t>3 /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85089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  <a:latin typeface="Calibri"/>
              </a:rPr>
              <a:t>HNZ | VBSM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Warm-Up &amp; Activation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07008"/>
            <a:ext cx="8229600" cy="91440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207008"/>
            <a:ext cx="36576" cy="914400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316736"/>
            <a:ext cx="801014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PHYSICAL ACTIVATION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554480"/>
            <a:ext cx="801014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Dynamic movement, mobility, acceleration prep. Specific exercises and reps.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304288"/>
            <a:ext cx="8229600" cy="91440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304288"/>
            <a:ext cx="36576" cy="914400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414016"/>
            <a:ext cx="801014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MENTAL PRIMING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651760"/>
            <a:ext cx="801014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How are you setting the tone? What message or intention opens the session? 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401568"/>
            <a:ext cx="8229600" cy="91440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401568"/>
            <a:ext cx="36576" cy="914400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3511296"/>
            <a:ext cx="801014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TECHNICAL TOUCH WARM-UP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3749039"/>
            <a:ext cx="801014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Ball familiarisation drills. Keep it simple and progressive. 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36576"/>
            <a:ext cx="54864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TECHNICAL BLOCK  |  15–45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36576"/>
            <a:ext cx="38404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Calibri"/>
              </a:rPr>
              <a:t>[SESSION THEME]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85089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AAAAAA"/>
                </a:solidFill>
                <a:latin typeface="Calibri"/>
              </a:rPr>
              <a:t>4 /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85089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  <a:latin typeface="Calibri"/>
              </a:rPr>
              <a:t>HNZ | VBSM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Technical Focus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07008"/>
            <a:ext cx="8229600" cy="96012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207008"/>
            <a:ext cx="36576" cy="960120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316736"/>
            <a:ext cx="801014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DRILL 1 — FOUNDATION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554480"/>
            <a:ext cx="801014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Name. Numbers. Set-up. Coaching cues. What success looks like.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350008"/>
            <a:ext cx="8229600" cy="96012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350008"/>
            <a:ext cx="36576" cy="960120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459736"/>
            <a:ext cx="801014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DRILL 2 — PROGRESSION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697480"/>
            <a:ext cx="801014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Add constraint or complexity. Numbers. Set-up. Key cue. 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493008"/>
            <a:ext cx="8229600" cy="96012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493008"/>
            <a:ext cx="36576" cy="960120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3602736"/>
            <a:ext cx="801014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KEY COACHING POINTS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3840480"/>
            <a:ext cx="801014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The 2 things you will keep returning to in this block. 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36576"/>
            <a:ext cx="54864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TACTICAL BLOCK + GAME  |  45–80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36576"/>
            <a:ext cx="38404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Calibri"/>
              </a:rPr>
              <a:t>[SESSION THEME]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85089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AAAAAA"/>
                </a:solidFill>
                <a:latin typeface="Calibri"/>
              </a:rPr>
              <a:t>5 /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85089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  <a:latin typeface="Calibri"/>
              </a:rPr>
              <a:t>HNZ | VBSM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Tactical Application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70432"/>
            <a:ext cx="8229600" cy="749808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170432"/>
            <a:ext cx="36576" cy="749808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280160"/>
            <a:ext cx="801014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TACTICAL 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517904"/>
            <a:ext cx="8010144" cy="3383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Set-up. Constraint. Numbers. What behaviour are you training?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066543"/>
            <a:ext cx="8229600" cy="749808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066543"/>
            <a:ext cx="36576" cy="749808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176272"/>
            <a:ext cx="801014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SMALL-SIDED GAME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414015"/>
            <a:ext cx="8010144" cy="3383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Format, pitch size, rules. How does it connect to the session theme? 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962656"/>
            <a:ext cx="8229600" cy="749808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2962656"/>
            <a:ext cx="36576" cy="749808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3072384"/>
            <a:ext cx="801014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PROGRESSION / CONDITION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3310128"/>
            <a:ext cx="8010144" cy="3383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How do you make it harder or more realistic? 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858768"/>
            <a:ext cx="8229600" cy="749808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858768"/>
            <a:ext cx="36576" cy="749808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3968496"/>
            <a:ext cx="801014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FULL-GAME INTEGRATION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4206240"/>
            <a:ext cx="8010144" cy="3383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Conditioned game or full game that links back to the session objectives. 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36576"/>
            <a:ext cx="54864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DEBRIEF &amp; POST-SESSION NOTES  |  80–90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36576"/>
            <a:ext cx="38404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Calibri"/>
              </a:rPr>
              <a:t>[SESSION THEME]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85089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AAAAAA"/>
                </a:solidFill>
                <a:latin typeface="Calibri"/>
              </a:rPr>
              <a:t>6 /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85089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  <a:latin typeface="Calibri"/>
              </a:rPr>
              <a:t>HNZ | VBSM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Session Close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70432"/>
            <a:ext cx="8229600" cy="804672"/>
          </a:xfrm>
          <a:prstGeom prst="rect">
            <a:avLst/>
          </a:prstGeom>
          <a:solidFill>
            <a:srgbClr val="1A1A1A"/>
          </a:solidFill>
          <a:ln w="12700">
            <a:solidFill>
              <a:srgbClr val="B8C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170432"/>
            <a:ext cx="64008" cy="804672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216152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B8C4CC"/>
                </a:solidFill>
                <a:latin typeface="Calibri"/>
              </a:rPr>
              <a:t>DEBRIEF FORMAT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481328"/>
            <a:ext cx="7863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AAAAAA"/>
                </a:solidFill>
                <a:latin typeface="Calibri"/>
              </a:rPr>
              <a:t>[ How will you close the session? Team huddle, key message, player-led reflection? One sentence.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121408"/>
            <a:ext cx="8229600" cy="77724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121408"/>
            <a:ext cx="36576" cy="777240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231136"/>
            <a:ext cx="801014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DID WE ACHIEVE THE OBJECTIVES?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468879"/>
            <a:ext cx="8010144" cy="3657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Honest answer. Yes / Partially / No — and what you saw. 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035808"/>
            <a:ext cx="8229600" cy="77724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035808"/>
            <a:ext cx="36576" cy="777240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3145536"/>
            <a:ext cx="801014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WHAT TO REPEAT IN THE NEXT SESSION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3383279"/>
            <a:ext cx="8010144" cy="3657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What worked that you want to build on? 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950208"/>
            <a:ext cx="8229600" cy="77724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950208"/>
            <a:ext cx="36576" cy="777240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4059936"/>
            <a:ext cx="801014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WHAT TO MODIFY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4297680"/>
            <a:ext cx="8010144" cy="3657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What didn't land? What needs adjusting before next time?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